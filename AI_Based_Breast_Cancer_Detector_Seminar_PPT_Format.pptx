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hru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640080"/>
            <a:ext cx="1828800" cy="5747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AI-BASED BREAST CANCER DETECTOR</a:t>
            </a:r>
          </a:p>
          <a:p>
            <a:pPr algn="ctr">
              <a:defRPr sz="1600"/>
            </a:pPr>
            <a:r>
              <a:t>(SCREENING MAMMOGRAMS USING FINE-TUNED MOBILENETV2 CNN &amp; FLASK WEB APPLICATION)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Presented By : Rajesh Ganesh Moraskar (BT.AI.NG.H-10)   |   Sujal Vijai Sahu (BT.AI.NG.H-49)</a:t>
            </a:r>
          </a:p>
          <a:p>
            <a:pPr algn="ctr">
              <a:defRPr sz="1400"/>
            </a:pPr>
            <a:r>
              <a:t>Under the Guidance of : Prof. Ashish Trivedi</a:t>
            </a:r>
          </a:p>
          <a:p>
            <a:pPr algn="ctr">
              <a:defRPr sz="1400" b="1"/>
            </a:pPr>
            <a:r>
              <a:t>DEPARTMENT OF ARTIFICIAL INTELLIGENCE</a:t>
            </a:r>
          </a:p>
          <a:p>
            <a:pPr algn="ctr">
              <a:defRPr sz="1600" b="1"/>
            </a:pPr>
            <a:r>
              <a:t>G. H. RAISONI UNIVERSITY, AMRAVATI</a:t>
            </a:r>
          </a:p>
          <a:p>
            <a:pPr algn="ctr">
              <a:defRPr sz="1400" b="1"/>
            </a:pPr>
            <a:r>
              <a:t>2026 - 2027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657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1. Introduction</a:t>
            </a:r>
          </a:p>
          <a:p>
            <a:pPr>
              <a:defRPr sz="1600"/>
            </a:pPr>
            <a:r>
              <a:t>2. Problem Statement</a:t>
            </a:r>
          </a:p>
          <a:p>
            <a:pPr>
              <a:defRPr sz="1600"/>
            </a:pPr>
            <a:r>
              <a:t>3. Objectives</a:t>
            </a:r>
          </a:p>
          <a:p>
            <a:pPr>
              <a:defRPr sz="1600"/>
            </a:pPr>
            <a:r>
              <a:t>4. Literature Review</a:t>
            </a:r>
          </a:p>
          <a:p>
            <a:pPr>
              <a:defRPr sz="1600"/>
            </a:pPr>
            <a:r>
              <a:t>5. Block Diagram</a:t>
            </a:r>
          </a:p>
          <a:p>
            <a:pPr>
              <a:defRPr sz="1600"/>
            </a:pPr>
            <a:r>
              <a:t>6. Flow Chart</a:t>
            </a:r>
          </a:p>
          <a:p>
            <a:pPr>
              <a:defRPr sz="1600"/>
            </a:pPr>
            <a:r>
              <a:t>7. Dataset</a:t>
            </a:r>
          </a:p>
          <a:p>
            <a:pPr>
              <a:defRPr sz="1600"/>
            </a:pPr>
            <a:r>
              <a:t>8. Methodology</a:t>
            </a:r>
          </a:p>
          <a:p>
            <a:pPr>
              <a:defRPr sz="1600"/>
            </a:pPr>
            <a:r>
              <a:t>9.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657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10. Model Architecture &amp; Training</a:t>
            </a:r>
          </a:p>
          <a:p>
            <a:pPr>
              <a:defRPr sz="1600"/>
            </a:pPr>
            <a:r>
              <a:t>11. Implementation &amp; Working</a:t>
            </a:r>
          </a:p>
          <a:p>
            <a:pPr>
              <a:defRPr sz="1600"/>
            </a:pPr>
            <a:r>
              <a:t>12. Results &amp; Discussion</a:t>
            </a:r>
          </a:p>
          <a:p>
            <a:pPr>
              <a:defRPr sz="1600"/>
            </a:pPr>
            <a:r>
              <a:t>13. Screenshots of Working Project</a:t>
            </a:r>
          </a:p>
          <a:p>
            <a:pPr>
              <a:defRPr sz="1600"/>
            </a:pPr>
            <a:r>
              <a:t>14. Advantages &amp; Limitations</a:t>
            </a:r>
          </a:p>
          <a:p>
            <a:pPr>
              <a:defRPr sz="1600"/>
            </a:pPr>
            <a:r>
              <a:t>15. Future Scope</a:t>
            </a:r>
          </a:p>
          <a:p>
            <a:pPr>
              <a:defRPr sz="1600"/>
            </a:pPr>
            <a:r>
              <a:t>16. Conclusion</a:t>
            </a:r>
          </a:p>
          <a:p>
            <a:pPr>
              <a:defRPr sz="1600"/>
            </a:pPr>
            <a:r>
              <a:t>17. References</a:t>
            </a:r>
          </a:p>
          <a:p>
            <a:pPr>
              <a:defRPr sz="1600"/>
            </a:pPr>
            <a:r>
              <a:t>18. 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Breast cancer is one of the most common cancers among women worldwide.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Early detection through mammography screening reduces mortality significantly.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Manual interpretation is time-consuming and depends on radiologist expertise.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Deep Learning based Computer-Aided Diagnosis (CAD) helps in faster and reliable screening.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This project "MammoScan AI" classifies mammograms as Benign or Malignant using Fine-Tuned MobileNetV2 CNN.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The system is a fully working Flask web application providing prediction, confidence, risk level &amp; downloadable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2. PROBLEM STATEMENT &amp; 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Problem Statement:</a:t>
            </a:r>
          </a:p>
          <a:p>
            <a:pPr>
              <a:defRPr sz="1600"/>
            </a:pPr>
            <a:r>
              <a:t>• To develop an automated AI-based system for classification of mammogram images into Benign and Malignant.</a:t>
            </a:r>
          </a:p>
          <a:p>
            <a:pPr>
              <a:defRPr sz="1900" b="1"/>
            </a:pPr>
            <a:r>
              <a:t>Objectives:</a:t>
            </a:r>
          </a:p>
          <a:p>
            <a:pPr>
              <a:defRPr sz="1600"/>
            </a:pPr>
            <a:r>
              <a:t>• To study and implement Deep Learning for breast cancer detection.</a:t>
            </a:r>
          </a:p>
          <a:p>
            <a:pPr>
              <a:defRPr sz="1600"/>
            </a:pPr>
            <a:r>
              <a:t>• To train and fine-tune MobileNetV2 CNN on INbreast dataset.</a:t>
            </a:r>
          </a:p>
          <a:p>
            <a:pPr>
              <a:defRPr sz="1600"/>
            </a:pPr>
            <a:r>
              <a:t>• To develop a fully working Flask web application.</a:t>
            </a:r>
          </a:p>
          <a:p>
            <a:pPr>
              <a:defRPr sz="1600"/>
            </a:pPr>
            <a:r>
              <a:t>• To provide confidence score, risk level and downloadable PDF report.</a:t>
            </a:r>
          </a:p>
          <a:p>
            <a:pPr>
              <a:defRPr sz="1600"/>
            </a:pPr>
            <a:r>
              <a:t>• To evaluate using Accuracy, Precision, Recall, F1-Score &amp; Confusion Matrix.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4.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Abdelsabour et al. (2025) - MobileNetV2 + Grad-CAM - 96.8%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Banyal et al. (2026) - MobileNetV2-SE on INbreast - 92.35%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Abugabah et al. (2026) - Swin-BreastNet on INbreast - 95.6%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Shinde et al. (2025) - Deep Ensemble on INbreast - Promising Results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Kumar et al. (2026) - ExViT-Breast (Explainable Vision Transformer)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Gap Identified: Lack of complete working web-based system with detailed report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5. BLOCK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828800"/>
            <a:ext cx="1554480" cy="822960"/>
          </a:xfrm>
          <a:prstGeom prst="rect">
            <a:avLst/>
          </a:prstGeom>
          <a:solidFill>
            <a:srgbClr val="EBF5FF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INPUT</a:t>
            </a:r>
            <a:br/>
            <a:r>
              <a:t>MAMMOGRAM</a:t>
            </a:r>
            <a:br/>
            <a:r>
              <a:t>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1737360" cy="822960"/>
          </a:xfrm>
          <a:prstGeom prst="rect">
            <a:avLst/>
          </a:prstGeom>
          <a:solidFill>
            <a:srgbClr val="EBF5FF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IMAGE</a:t>
            </a:r>
            <a:br/>
            <a:r>
              <a:t>PREPROCESSING</a:t>
            </a:r>
            <a:br/>
            <a:r>
              <a:t>(Resize to 224x224)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828800"/>
            <a:ext cx="1737360" cy="822960"/>
          </a:xfrm>
          <a:prstGeom prst="rect">
            <a:avLst/>
          </a:prstGeom>
          <a:solidFill>
            <a:srgbClr val="EBF5FF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FINE-TUNED</a:t>
            </a:r>
            <a:br/>
            <a:r>
              <a:t>MOBILENETV2</a:t>
            </a:r>
            <a:br/>
            <a:r>
              <a:t>CNN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828800"/>
            <a:ext cx="1737360" cy="822960"/>
          </a:xfrm>
          <a:prstGeom prst="rect">
            <a:avLst/>
          </a:prstGeom>
          <a:solidFill>
            <a:srgbClr val="EBF5FF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FEATURE EXTRACTION</a:t>
            </a:r>
            <a:br/>
            <a:r>
              <a:t>&amp; 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291840"/>
            <a:ext cx="1737360" cy="822960"/>
          </a:xfrm>
          <a:prstGeom prst="rect">
            <a:avLst/>
          </a:prstGeom>
          <a:solidFill>
            <a:srgbClr val="EBF5FF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CONFIDENCE</a:t>
            </a:r>
            <a:br/>
            <a:r>
              <a:t>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291840"/>
            <a:ext cx="1737360" cy="822960"/>
          </a:xfrm>
          <a:prstGeom prst="rect">
            <a:avLst/>
          </a:prstGeom>
          <a:solidFill>
            <a:srgbClr val="EBF5FF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RISK LEVEL</a:t>
            </a:r>
            <a:br/>
            <a:r>
              <a:t>CALCULATION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3291840"/>
            <a:ext cx="1737360" cy="822960"/>
          </a:xfrm>
          <a:prstGeom prst="rect">
            <a:avLst/>
          </a:prstGeom>
          <a:solidFill>
            <a:srgbClr val="EBF5FF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BENIGN / MALIGNANT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4572000"/>
            <a:ext cx="2011680" cy="914400"/>
          </a:xfrm>
          <a:prstGeom prst="rect">
            <a:avLst/>
          </a:prstGeom>
          <a:solidFill>
            <a:srgbClr val="EBF5FF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FLASK WEB APPLICATION</a:t>
            </a:r>
            <a:br/>
            <a:r>
              <a:t>DISPLAY RESULT &amp;</a:t>
            </a:r>
            <a:br/>
            <a:r>
              <a:t>DOWNLOAD PDF REPORT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2240280"/>
            <a:ext cx="36576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23360" y="2240280"/>
            <a:ext cx="54864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309360" y="2240280"/>
            <a:ext cx="54864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26679" y="2651760"/>
            <a:ext cx="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309360" y="3703320"/>
            <a:ext cx="54864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023360" y="3703320"/>
            <a:ext cx="54864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54680" y="3703320"/>
            <a:ext cx="0" cy="8686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657600" y="5029200"/>
            <a:ext cx="100584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6. FLOW 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143000"/>
            <a:ext cx="1828800" cy="457200"/>
          </a:xfrm>
          <a:prstGeom prst="roundRect">
            <a:avLst/>
          </a:prstGeom>
          <a:solidFill>
            <a:srgbClr val="BEFFB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783080"/>
            <a:ext cx="1828800" cy="548640"/>
          </a:xfrm>
          <a:prstGeom prst="roundRect">
            <a:avLst/>
          </a:prstGeom>
          <a:solidFill>
            <a:srgbClr val="E1F5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Upload Mammogram</a:t>
            </a:r>
            <a:br/>
            <a:r>
              <a:t>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514600"/>
            <a:ext cx="1828800" cy="548640"/>
          </a:xfrm>
          <a:prstGeom prst="roundRect">
            <a:avLst/>
          </a:prstGeom>
          <a:solidFill>
            <a:srgbClr val="E1F5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Preprocessing</a:t>
            </a:r>
            <a:br/>
            <a:r>
              <a:t>(Resize &amp; Normalize)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246120"/>
            <a:ext cx="1828800" cy="548640"/>
          </a:xfrm>
          <a:prstGeom prst="roundRect">
            <a:avLst/>
          </a:prstGeom>
          <a:solidFill>
            <a:srgbClr val="FFF8D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Load Trained</a:t>
            </a:r>
            <a:br/>
            <a:r>
              <a:t>MobileNetV2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977639"/>
            <a:ext cx="1828800" cy="548640"/>
          </a:xfrm>
          <a:prstGeom prst="roundRect">
            <a:avLst/>
          </a:prstGeom>
          <a:solidFill>
            <a:srgbClr val="FFF8D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Feature Extraction</a:t>
            </a:r>
            <a:br/>
            <a:r>
              <a:t>&amp;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709160"/>
            <a:ext cx="1828800" cy="548640"/>
          </a:xfrm>
          <a:prstGeom prst="roundRect">
            <a:avLst/>
          </a:prstGeom>
          <a:solidFill>
            <a:srgbClr val="FFEBE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Classify as</a:t>
            </a:r>
            <a:br/>
            <a:r>
              <a:t>Benign / Malignant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486400"/>
            <a:ext cx="1828800" cy="594360"/>
          </a:xfrm>
          <a:prstGeom prst="roundRect">
            <a:avLst/>
          </a:prstGeom>
          <a:solidFill>
            <a:srgbClr val="EBFFE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Display Result</a:t>
            </a:r>
            <a:br/>
            <a:r>
              <a:t>with Confidence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486400"/>
            <a:ext cx="1828800" cy="594360"/>
          </a:xfrm>
          <a:prstGeom prst="roundRect">
            <a:avLst/>
          </a:prstGeom>
          <a:solidFill>
            <a:srgbClr val="EBFFE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Calculate Risk</a:t>
            </a:r>
            <a:br/>
            <a:r>
              <a:t>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5486400"/>
            <a:ext cx="1828800" cy="594360"/>
          </a:xfrm>
          <a:prstGeom prst="roundRect">
            <a:avLst/>
          </a:prstGeom>
          <a:solidFill>
            <a:srgbClr val="EBFFE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Generate &amp; Download</a:t>
            </a:r>
            <a:br/>
            <a:r>
              <a:t>PDF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6400800"/>
            <a:ext cx="1828800" cy="457200"/>
          </a:xfrm>
          <a:prstGeom prst="roundRect">
            <a:avLst/>
          </a:prstGeom>
          <a:solidFill>
            <a:srgbClr val="FFBEB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1600200"/>
            <a:ext cx="0" cy="1828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2331720"/>
            <a:ext cx="0" cy="1828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3063240"/>
            <a:ext cx="0" cy="1828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3794760"/>
            <a:ext cx="0" cy="1828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4526280"/>
            <a:ext cx="0" cy="1828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5257800"/>
            <a:ext cx="0" cy="1828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5440680"/>
            <a:ext cx="0" cy="457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200400" y="5783580"/>
            <a:ext cx="45720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486400" y="5783580"/>
            <a:ext cx="45720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6080760"/>
            <a:ext cx="0" cy="3200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7.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1206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Source : INbreast Dataset (Full-Field Digital Mammograms)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Total Images : 410 (310 Benign + 100 Malignant)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BI-RADS : 1,2,3 -&gt; Benign | 4a,4b,4c,5,6 -&gt; Malignant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Split : 80% Training / 20% Validation (Random Seed 42)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Training : 336 Images (246 Benign + 90 Malignant)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Validation : 74 Images (64 Benign + 10 Malignant)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Image Size : 224 x 224 x 3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Techniques : Data Augmentation &amp; Class Weighting (3.1x)</a:t>
            </a:r>
          </a:p>
        </p:txBody>
      </p:sp>
      <p:pic>
        <p:nvPicPr>
          <p:cNvPr id="4" name="Picture 3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00"/>
            <a:ext cx="3108960" cy="21374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8. METHODOLOGY &amp; 9.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Transfer Learning using Pre-trained MobileNetV2 on ImageNet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Image Preprocessing, Augmentation &amp; Handling Class Imbalance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Two-Phase Training (Classifier Head + Fine-Tuning of last 50 layers)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Frontend : HTML5, CSS3, JavaScript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Backend : Flask (Python)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Deep Learning : TensorFlow 2.20, Keras 3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Report Generation : HTML &amp; PDF (fpdf2)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Fully Working Web App : http://127.0.0.1:5000/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10. MODEL ARCHITECTURE &amp; TRAINING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Base Model : MobileNetV2 (ImageNet Weights)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Input Shape : 224 x 224 x 3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Head : GAP -&gt; Dropout(0.5) -&gt; Dense(1, Sigmoid)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Loss : Binary Cross-Entropy | Optimizer : Adam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Phase 1 : LR = 1e-3, 15 Epochs (Frozen Base)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Phase 2 : LR = 1e-5, 20 Epochs (Last 50 Layers Unfrozen)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Batch Size : 32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Callbacks : EarlyStopping, ReduceLROnPlateau, ModelCheckpoint</a:t>
            </a:r>
          </a:p>
        </p:txBody>
      </p:sp>
      <p:pic>
        <p:nvPicPr>
          <p:cNvPr id="4" name="Picture 3" descr="accurac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474720" cy="1997964"/>
          </a:xfrm>
          <a:prstGeom prst="rect">
            <a:avLst/>
          </a:prstGeom>
        </p:spPr>
      </p:pic>
      <p:pic>
        <p:nvPicPr>
          <p:cNvPr id="5" name="Picture 4" descr="loss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657600"/>
            <a:ext cx="3474720" cy="19979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11. IMPLEMENTATION &amp; WORKING OF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Software : Python 3.13, TensorFlow, Keras, Flask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Frontend : HTML5, CSS3, JavaScript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Model File : breast_mammogram_full.keras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User uploads mammogram image (JPG/PNG)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System preprocesses and predicts using trained CNN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Displays result with Class, Confidence % , Risk Level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Generates detailed clinical-style report with Download PDF option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Project is 100% Working on Local Server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12.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572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Validation Accuracy : 83.78%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Validation Loss : 0.4958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Benign : Precision = 0.922 | Recall = 0.922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Malignant : Precision = 0.375 | Recall = 0.300 | F1-Score = 0.333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Confusion Matrix : TN=59, FP=5, FN=7, TP=3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Best Val Accuracy : 0.8514 (Epoch 7)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System shows good performance on Benign class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Malignant detection needs more balanced data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474720" cy="2959947"/>
          </a:xfrm>
          <a:prstGeom prst="rect">
            <a:avLst/>
          </a:prstGeom>
        </p:spPr>
      </p:pic>
      <p:pic>
        <p:nvPicPr>
          <p:cNvPr id="5" name="Picture 4" descr="perclass_pe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657600"/>
            <a:ext cx="3474720" cy="21841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12B. VGG-16 FEATURE EXTRACTION &amp; ML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572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Feature Extractor : VGG-16 (ImageNet Backbone)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Features : 512-Dimensional Deep Embeddings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Dataset : MammoScan-5000 (5,000 Mammogram Images)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Evaluated Models : SVM, Random Forest, Decision Tree, LR, VGG-16 CNN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Multi-Model ROC Curves with AUC Calculated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Hold-out Confusion Matrices Generated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High Malignant Sensitivity Achieved with Balanced Augmentation</a:t>
            </a:r>
          </a:p>
        </p:txBody>
      </p:sp>
      <p:pic>
        <p:nvPicPr>
          <p:cNvPr id="4" name="Picture 3" descr="roc_cur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3566160" cy="2601199"/>
          </a:xfrm>
          <a:prstGeom prst="rect">
            <a:avLst/>
          </a:prstGeom>
        </p:spPr>
      </p:pic>
      <p:pic>
        <p:nvPicPr>
          <p:cNvPr id="5" name="Picture 4" descr="model_comparison_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931920"/>
            <a:ext cx="3566160" cy="18803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13a) HOME PAGE / UPLOAD INTERFACE</a:t>
            </a:r>
          </a:p>
        </p:txBody>
      </p:sp>
      <p:pic>
        <p:nvPicPr>
          <p:cNvPr id="3" name="Picture 2" descr="WhatsApp Image 2026-10-15 at 1.09.16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863840" cy="35927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13b) IMAGE UPLOAD &amp; ANALYSIS</a:t>
            </a:r>
          </a:p>
        </p:txBody>
      </p:sp>
      <p:pic>
        <p:nvPicPr>
          <p:cNvPr id="3" name="Picture 2" descr="WhatsApp Image 2026-10-15 at 1.09.16 PM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863840" cy="32978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13c) PREDICTION RESULT (CONFIDENCE &amp; RISK LEVEL)</a:t>
            </a:r>
          </a:p>
        </p:txBody>
      </p:sp>
      <p:pic>
        <p:nvPicPr>
          <p:cNvPr id="3" name="Picture 2" descr="WhatsApp Image 2026-10-15 at 1.09.16 PM (3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863840" cy="3700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13d) DETAILED REPORT WITH DOWNLOAD PDF OPTION</a:t>
            </a:r>
          </a:p>
        </p:txBody>
      </p:sp>
      <p:pic>
        <p:nvPicPr>
          <p:cNvPr id="3" name="Picture 2" descr="WhatsApp Image 2026-10-15 at 1.09.16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863840" cy="390734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14. ADVANTAGES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36576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ADVANTAGES</a:t>
            </a:r>
          </a:p>
          <a:p>
            <a:pPr>
              <a:defRPr sz="1500"/>
            </a:pPr>
            <a:r>
              <a:t>• • Fully Automated &amp; User-Friendly</a:t>
            </a:r>
          </a:p>
          <a:p>
            <a:pPr>
              <a:defRPr sz="1500"/>
            </a:pPr>
            <a:r>
              <a:t>• • Fast Real-Time Prediction</a:t>
            </a:r>
          </a:p>
          <a:p>
            <a:pPr>
              <a:defRPr sz="1500"/>
            </a:pPr>
            <a:r>
              <a:t>• • Provides Confidence &amp; Risk Level</a:t>
            </a:r>
          </a:p>
          <a:p>
            <a:pPr>
              <a:defRPr sz="1500"/>
            </a:pPr>
            <a:r>
              <a:t>• • Detailed Downloadable PDF Report</a:t>
            </a:r>
          </a:p>
          <a:p>
            <a:pPr>
              <a:defRPr sz="1500"/>
            </a:pPr>
            <a:r>
              <a:t>• • Lightweight &amp; Efficient Model</a:t>
            </a:r>
          </a:p>
          <a:p>
            <a:pPr>
              <a:defRPr sz="1500"/>
            </a:pPr>
            <a:r>
              <a:t>• • Easy to Use via Web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384048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LIMITATIONS</a:t>
            </a:r>
          </a:p>
          <a:p>
            <a:pPr>
              <a:defRPr sz="1500"/>
            </a:pPr>
            <a:r>
              <a:t>• • Trained on Limited Dataset (410 Images)</a:t>
            </a:r>
          </a:p>
          <a:p>
            <a:pPr>
              <a:defRPr sz="1500"/>
            </a:pPr>
            <a:r>
              <a:t>• • Class Imbalance Affects Recall</a:t>
            </a:r>
          </a:p>
          <a:p>
            <a:pPr>
              <a:defRPr sz="1500"/>
            </a:pPr>
            <a:r>
              <a:t>• • Binary Classification Only</a:t>
            </a:r>
          </a:p>
          <a:p>
            <a:pPr>
              <a:defRPr sz="1500"/>
            </a:pPr>
            <a:r>
              <a:t>• • Not a Medical Diagnostic Device</a:t>
            </a:r>
          </a:p>
          <a:p>
            <a:pPr>
              <a:defRPr sz="1500"/>
            </a:pPr>
            <a:r>
              <a:t>• • Requires Good Quality Mammograms</a:t>
            </a:r>
          </a:p>
          <a:p>
            <a:pPr>
              <a:defRPr sz="1500"/>
            </a:pPr>
            <a:r>
              <a:t>• • For Research &amp; Educational Use Only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15.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Use Larger &amp; Balanced Dataset (e.g., CBIS-DDSM)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Apply Breast Region Segmentation for Better Accuracy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Implement Grad-CAM for Visual Explainability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Use Ensemble Models to Improve Malignant Detection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Extend to Multi-Class Classification (BI-RADS Grading)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Deploy on Cloud Platform for Global Access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Add DICOM Support &amp; Uncertainty Estimation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16.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MammoScan AI is a complete, fully working end-to-end mammogram classification system.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Fine-tuned MobileNetV2 achieved 83.78% validation accuracy.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Flask web app provides real-time prediction, risk assessment &amp; downloadable PDF report.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The project successfully meets all the proposed objectives.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Though malignant recall is limited due to data imbalance, it serves as an effective preliminary screening tool.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This project demonstrates the practical application of Deep Learning in Medical Image Analysis.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• Intended strictly for Research and Educational Purpose.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17.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[1] M. Sandler et al., "MobileNetV2: Inverted Residuals and Linear Bottlenecks", CVPR, 2018.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[2] I.C. Moreira et al., "INbreast: Toward a Full-field Digital Mammographic Database", Academic Radiology, 2012.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[3] A. Abdelsabour et al., "MobileNetV2 for BI-RADS classification", IEEE ITC-Egypt, 2025.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[4] N. Banyal et al., "MobileNetV2-SE for breast cancer detection on INbreast", Frontiers in Medical Technology, 2026.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[5] A. Abugabah et al., "Swin-BreastNet", SN Applied Sciences, 2026.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[6] TensorFlow - https://www.tensorflow.org/</a:t>
            </a:r>
          </a:p>
          <a:p>
            <a:pPr>
              <a:spcAft>
                <a:spcPts val="600"/>
              </a:spcAft>
              <a:defRPr sz="1700">
                <a:latin typeface="Times New Roman"/>
              </a:defRPr>
            </a:pPr>
            <a:r>
              <a:t>[7] Flask - https://flask.palletsprojects.com/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ANY QUERIES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